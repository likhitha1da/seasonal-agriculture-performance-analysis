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Avg Yield by Season (t/ha)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Yield (t/ha)</c:v>
                </c:pt>
              </c:strCache>
            </c:strRef>
          </c:tx>
          <c:spPr>
            <a:solidFill>
              <a:srgbClr val="8CA8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Kharif</c:v>
                  </c:pt>
                  <c:pt idx="1">
                    <c:v>Rabi</c:v>
                  </c:pt>
                  <c:pt idx="2">
                    <c:v>Zaid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</c:v>
                </c:pt>
                <c:pt idx="1">
                  <c:v>5</c:v>
                </c:pt>
                <c:pt idx="2">
                  <c:v>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Avg Profit by Season (INR)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(INR)</c:v>
                </c:pt>
              </c:strCache>
            </c:strRef>
          </c:tx>
          <c:spPr>
            <a:solidFill>
              <a:srgbClr val="E0A0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Kharif</c:v>
                  </c:pt>
                  <c:pt idx="1">
                    <c:v>Rabi</c:v>
                  </c:pt>
                  <c:pt idx="2">
                    <c:v>Zaid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178915</c:v>
                </c:pt>
                <c:pt idx="1">
                  <c:v>87690</c:v>
                </c:pt>
                <c:pt idx="2">
                  <c:v>-24805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Rainfall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Kharif</c:v>
                  </c:pt>
                  <c:pt idx="1">
                    <c:v>Rabi</c:v>
                  </c:pt>
                  <c:pt idx="2">
                    <c:v>Zaid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852</c:v>
                </c:pt>
                <c:pt idx="1">
                  <c:v>436</c:v>
                </c:pt>
                <c:pt idx="2">
                  <c:v>299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Soil Moisture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Soil Moisture (%)</c:v>
                </c:pt>
              </c:strCache>
            </c:strRef>
          </c:tx>
          <c:spPr>
            <a:solidFill>
              <a:srgbClr val="8B5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Kharif</c:v>
                  </c:pt>
                  <c:pt idx="1">
                    <c:v>Rabi</c:v>
                  </c:pt>
                  <c:pt idx="2">
                    <c:v>Zaid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31.2</c:v>
                </c:pt>
                <c:pt idx="1">
                  <c:v>24.1</c:v>
                </c:pt>
                <c:pt idx="2">
                  <c:v>19.2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Avg Temp (°C)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Temp (°C)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Kharif</c:v>
                  </c:pt>
                  <c:pt idx="1">
                    <c:v>Rabi</c:v>
                  </c:pt>
                  <c:pt idx="2">
                    <c:v>Zaid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28.5</c:v>
                </c:pt>
                <c:pt idx="1">
                  <c:v>23.5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Correlation of Inputs with Yield (Tonnes/Ha)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Yield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Water Used</c:v>
                  </c:pt>
                  <c:pt idx="1">
                    <c:v>Nitrogen</c:v>
                  </c:pt>
                  <c:pt idx="2">
                    <c:v>Rainfall</c:v>
                  </c:pt>
                  <c:pt idx="3">
                    <c:v>Fertilizer</c:v>
                  </c:pt>
                  <c:pt idx="4">
                    <c:v>Pesticide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</c:v>
                </c:pt>
                <c:pt idx="1">
                  <c:v>0.05</c:v>
                </c:pt>
                <c:pt idx="2">
                  <c:v>0.03</c:v>
                </c:pt>
                <c:pt idx="3">
                  <c:v>0</c:v>
                </c:pt>
                <c:pt idx="4">
                  <c:v>-0.01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-0.05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2011680"/>
            <a:ext cx="6400800" cy="6400800"/>
          </a:xfrm>
          <a:prstGeom prst="oval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291840"/>
            <a:ext cx="4114800" cy="4114800"/>
          </a:xfrm>
          <a:prstGeom prst="oval">
            <a:avLst/>
          </a:prstGeom>
          <a:solidFill>
            <a:srgbClr val="2550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AGRICULTURE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seasonal patterns, trends and relationships in agricultural performance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 AICTE Major Project  |  Batch 2026-2027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 |   Roll No: [Your Roll Number]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solidFill>
            <a:srgbClr val="F4F1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performance is shaped by seasonal changes in rainfall, temperature, resource use and market conditions — but raw data alone doesn't reveal how or why performance shifts across seasons.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4348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4,000 farm records to identify seasonal patterns in yield, cost, profit and resource usage, and turn those patterns into evidence-based recommendations for seasonal planning.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Analytical Questions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1993392"/>
            <a:ext cx="292608" cy="29260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9659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yield actually differ by season, or does it just look that way?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292608" cy="29260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71576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profitability more affected by season than yield is?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3493008"/>
            <a:ext cx="292608" cy="29260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465576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environmental/resource factors relate most to yield &amp; profit?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242816"/>
            <a:ext cx="292608" cy="29260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421538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specific crops perform better in specific seasons?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4992624"/>
            <a:ext cx="292608" cy="29260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4992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96519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seasonal profit patterns consistent across states?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62072" y="15544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62072" y="178308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2606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75504" y="15544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75504" y="178308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175504" y="2606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Types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88936" y="15544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88936" y="178308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488936" y="2606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02368" y="155448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02368" y="178308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802368" y="2606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Seasons Represented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8CA86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1605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4160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- Oct  |  wettest, most humid  |  1,779 records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8CA8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663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46634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- Mar  |  cooler, drier  |  1,627 records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8CA8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1663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51663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- Jun  |  hottest, driest  |  594 records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3703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Captured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Environment: rainfall, temperature, humidity, soil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45994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Resources: fertilizer, pesticide, water, irrigation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0383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Outcomes: yield, cost, revenue, profit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4772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Risk: disease/pest risk %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4F1E8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19202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544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Season-wise median imputation for missing values; IQR-based outlier check on yield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4F1E8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9202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3375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comparisons of yield, cost, revenue, profit, environment &amp; resource 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4F1E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19202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3375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to confirm which seasonal differences are statistically real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164592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4F1E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95560" y="19202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1955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Discovery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33375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analysis, crop x season and state x season breakdowns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Season Drives Profit, Not Yield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51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p = 0.21  →  NOT statistically significant</a:t>
            </a:r>
            <a:endParaRPr lang="en-US" sz="1250" dirty="0"/>
          </a:p>
        </p:txBody>
      </p:sp>
      <p:graphicFrame>
        <p:nvGraphicFramePr>
          <p:cNvPr id="5" name="Chart 1" descr=""/>
          <p:cNvGraphicFramePr/>
          <p:nvPr/>
        </p:nvGraphicFramePr>
        <p:xfrm>
          <a:off x="6263640" y="14630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263640" y="4251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p &lt; 0.001  →  Highly significant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548640" y="4846320"/>
            <a:ext cx="11091672" cy="1371600"/>
          </a:xfrm>
          <a:prstGeom prst="rect">
            <a:avLst/>
          </a:prstGeom>
          <a:solidFill>
            <a:srgbClr val="F4F1E8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68680" y="4983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differences across seasons could plausibly be random noise. Profit, however, drops sharply and reliably — Zaid runs at an average loss of ₹24,805/farm, with 64.5% of Zaid farms unprofitable. Season affects profitability far more than it affects raw production.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Zaid's Harsh Conditions Explain the Gap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3520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343400" y="1417320"/>
          <a:ext cx="3520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8138160" y="1417320"/>
          <a:ext cx="3520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Shape 1"/>
          <p:cNvSpPr/>
          <p:nvPr/>
        </p:nvSpPr>
        <p:spPr>
          <a:xfrm>
            <a:off x="548640" y="4023360"/>
            <a:ext cx="11091672" cy="2194560"/>
          </a:xfrm>
          <a:prstGeom prst="rect">
            <a:avLst/>
          </a:prstGeom>
          <a:solidFill>
            <a:srgbClr val="F4F1E8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868680" y="4206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combines the lowest rainfall, lowest soil moisture and highest average temperature of any season — a genuinely harsher growing environment, not a labelling artifact. Despite this, fertilizer application stays flat across seasons (184-187 kg/ha) and irrigation method mix barely shifts, suggesting farming practices are not being adapted to compensate for Zaid's tougher conditions.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Fertilizer Use Shows No Link to Yield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223760" y="1463040"/>
            <a:ext cx="4416552" cy="3749040"/>
          </a:xfrm>
          <a:prstGeom prst="rect">
            <a:avLst/>
          </a:prstGeom>
          <a:solidFill>
            <a:srgbClr val="F4F1E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4980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21031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usage correlates at essentially 0.00 with yield, despite being actively applied at 184-187 kg/ha in every season.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suggests fertilizer application may be over-applied, mistimed, or poorly targeted — or that yield here is driven more by crop type (e.g. Sugarcane) than by input levels.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is the strongest (though still moderate) predictor of yield at 0.39 correlation.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Seasonal Patterns Aren't One-Size-Fits-All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1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Crop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crop yields best in Kharif, worst in Zaid — no exceptions.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profit tells a different story: Sugarcane &amp; Chilli are consistently profitable, while Wheat, Rice and Maize show negative average profit despite decent yields — pointing to a cost/price issue, not a production issue.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45352" y="14630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1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65392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State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65392" y="21488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Kharif &gt; Rabi &gt; Zaid profit pattern holds in most states — but Punjab is the exception.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Punjab's Rabi profit (₹1,69,295) beats its Kharif profit, and it's the only state that stays profitable in Zaid (₹62,110) while every other state posts a Zaid loss.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 From These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Season-specific crop and resource decisions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783080"/>
            <a:ext cx="457200" cy="45720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Officers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Regional, season-aware farmer guidance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C5F2D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783080"/>
            <a:ext cx="457200" cy="45720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Policymakers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331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Subsidy, irrigation &amp; crop-insurance planning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593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Agri-input Companies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06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fertilizer/seed supply by season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429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C5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3657600"/>
            <a:ext cx="457200" cy="45720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593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Lenders &amp; Insurers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206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seasonal risk for loans/insurance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3429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C5F2D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3657600"/>
            <a:ext cx="457200" cy="45720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3593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Agribusiness Buyers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206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planning around seasonal yield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1E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37360"/>
            <a:ext cx="411480" cy="41148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fertilizer strategy — near-zero correlation with yield signals waste or mistargeting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33472"/>
            <a:ext cx="411480" cy="41148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505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Zaid as higher-risk; prioritize resilient crops/regions (e.g. Punjab's model) for that season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29584"/>
            <a:ext cx="411480" cy="41148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34670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Wheat, Rice &amp; Maize are unprofitable despite decent yield — likely price/cost driven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425696"/>
            <a:ext cx="411480" cy="41148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425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24281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toward season-adapted irrigation — drip over flood in low-moisture seasons like Zaid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3892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1E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321808"/>
            <a:ext cx="411480" cy="41148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321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1389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Punjab's Zaid resilience as a transferable case for other states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oval">
            <a:avLst/>
          </a:prstGeom>
          <a:solidFill>
            <a:srgbClr val="25502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affects profitability far more than raw yield. Zaid's harsher climate — not weaker farming input — drives its losses, and nearly two-thirds of Zaid farms are unprofitable. Yet the pattern isn't universal: state and crop-level differences (Punjab's resilience, Wheat/Rice/Maize's poor margins) show seasonal planning needs to be regional and crop-aware, not one-size-fits-all.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type, farmer experience, credit access and year-to-year weather variability are not captured — findings are patterns for further investigation, not confirmed causal relationships.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2026-09-09T17:41:44Z</dcterms:created>
  <dcterms:modified xsi:type="dcterms:W3CDTF">2026-09-09T17:41:44Z</dcterms:modified>
</cp:coreProperties>
</file>