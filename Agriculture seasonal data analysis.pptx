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3"/>
  </p:notesMasterIdLst>
  <p:handoutMasterIdLst>
    <p:handoutMasterId r:id="rId14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0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14393" y="4141999"/>
            <a:ext cx="4198568" cy="861497"/>
          </a:xfrm>
        </p:spPr>
        <p:txBody>
          <a:bodyPr/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LIKHITHA K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3869" y="1791478"/>
            <a:ext cx="8577722" cy="1002523"/>
          </a:xfrm>
        </p:spPr>
        <p:txBody>
          <a:bodyPr>
            <a:normAutofit fontScale="90000"/>
          </a:bodyPr>
          <a:lstStyle/>
          <a:p>
            <a:br>
              <a:rPr lang="en-GB" sz="3200" dirty="0"/>
            </a:br>
            <a:br>
              <a:rPr lang="en-GB" sz="3200" dirty="0"/>
            </a:br>
            <a:r>
              <a:rPr lang="en-GB" sz="3200" dirty="0"/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IN" sz="2800" dirty="0"/>
              <a:t>The problem is to </a:t>
            </a:r>
            <a:r>
              <a:rPr lang="en-IN" sz="2800" dirty="0" err="1"/>
              <a:t>analyze</a:t>
            </a:r>
            <a:r>
              <a:rPr lang="en-IN" sz="2800" dirty="0"/>
              <a:t> the given agricultural dataset and investigate seasonal differences in agricultural performance by identifying meaningful patterns, trends, relationships and variations within the available data.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9043438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r>
              <a:rPr lang="en-GB" sz="3200" dirty="0"/>
              <a:t>Agricultural activities are shaped by seasonal variation — changes in rainfall, temperature, humidity, soil condition and resource availability across the **Kharif**, **Rabi** and **Zaid** cropping seasons. This variation affects yield, production, resource consumption and, ultimately, farm profitability</a:t>
            </a:r>
            <a:r>
              <a:rPr lang="en-GB" sz="3100" dirty="0"/>
              <a:t>.</a:t>
            </a:r>
            <a:endParaRPr lang="en-IN" sz="3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47500" lnSpcReduction="20000"/>
          </a:bodyPr>
          <a:lstStyle/>
          <a:p>
            <a:pPr lvl="0"/>
            <a:r>
              <a:rPr lang="en-IN" sz="3600" b="1" dirty="0"/>
              <a:t>Farmers</a:t>
            </a:r>
            <a:r>
              <a:rPr lang="en-IN" sz="3600" dirty="0"/>
              <a:t> — deciding which crops to grow in which season, and how to allocate resources (water, fertilizer)</a:t>
            </a:r>
          </a:p>
          <a:p>
            <a:pPr lvl="0"/>
            <a:r>
              <a:rPr lang="en-IN" sz="3600" b="1" dirty="0"/>
              <a:t>Agricultural extension officers / advisors</a:t>
            </a:r>
            <a:r>
              <a:rPr lang="en-IN" sz="3600" dirty="0"/>
              <a:t> — giving season-specific guidance to farmers in their region</a:t>
            </a:r>
          </a:p>
          <a:p>
            <a:pPr lvl="0"/>
            <a:r>
              <a:rPr lang="en-IN" sz="3600" b="1" dirty="0"/>
              <a:t>State agriculture departments / policymakers</a:t>
            </a:r>
            <a:r>
              <a:rPr lang="en-IN" sz="3600" dirty="0"/>
              <a:t> — planning subsidies, irrigation infrastructure, or crop insurance around seasonal risk (e.g. Zaid's high loss rate)</a:t>
            </a:r>
          </a:p>
          <a:p>
            <a:pPr lvl="0"/>
            <a:r>
              <a:rPr lang="en-IN" sz="3600" b="1" dirty="0"/>
              <a:t>Agri-input companies</a:t>
            </a:r>
            <a:r>
              <a:rPr lang="en-IN" sz="3600" dirty="0"/>
              <a:t> (fertilizer, seed, irrigation equipment) — targeting products/timing based on seasonal demand and usage patterns</a:t>
            </a:r>
          </a:p>
          <a:p>
            <a:pPr lvl="0"/>
            <a:r>
              <a:rPr lang="en-IN" sz="3600" b="1" dirty="0"/>
              <a:t>Banks / agricultural lenders &amp; crop insurers</a:t>
            </a:r>
            <a:r>
              <a:rPr lang="en-IN" sz="3600" dirty="0"/>
              <a:t> — assessing seasonal risk when offering loans or insurance</a:t>
            </a:r>
          </a:p>
          <a:p>
            <a:pPr lvl="0"/>
            <a:r>
              <a:rPr lang="en-IN" sz="3600" b="1" dirty="0"/>
              <a:t>Agribusinesses / commodity buyers</a:t>
            </a:r>
            <a:r>
              <a:rPr lang="en-IN" sz="3600" dirty="0"/>
              <a:t> — planning procurement around expected seasonal yield and price patterns</a:t>
            </a:r>
          </a:p>
          <a:p>
            <a:pPr lvl="0"/>
            <a:r>
              <a:rPr lang="en-IN" sz="3600" b="1" dirty="0"/>
              <a:t>Researchers / agricultural universities</a:t>
            </a:r>
            <a:r>
              <a:rPr lang="en-IN" sz="3600" dirty="0"/>
              <a:t> — using the patterns as a starting point for deeper agronomic studies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>
            <a:normAutofit fontScale="92500" lnSpcReduction="20000"/>
          </a:bodyPr>
          <a:lstStyle/>
          <a:p>
            <a:pPr marL="1543050" lvl="3" indent="-285750">
              <a:lnSpc>
                <a:spcPct val="120000"/>
              </a:lnSpc>
            </a:pPr>
            <a:r>
              <a:rPr lang="en-IN" b="1" dirty="0"/>
              <a:t>Technologies Used</a:t>
            </a:r>
          </a:p>
          <a:p>
            <a:pPr marL="1543050" lvl="3" indent="-285750">
              <a:lnSpc>
                <a:spcPct val="120000"/>
              </a:lnSpc>
            </a:pPr>
            <a:r>
              <a:rPr lang="en-IN" b="1" dirty="0"/>
              <a:t>Programming Language</a:t>
            </a:r>
            <a:endParaRPr lang="en-IN" dirty="0"/>
          </a:p>
          <a:p>
            <a:pPr marL="1543050" lvl="3" indent="-285750">
              <a:lnSpc>
                <a:spcPct val="120000"/>
              </a:lnSpc>
            </a:pPr>
            <a:r>
              <a:rPr lang="en-IN" dirty="0"/>
              <a:t>Python</a:t>
            </a:r>
          </a:p>
          <a:p>
            <a:pPr marL="1543050" lvl="3" indent="-285750">
              <a:lnSpc>
                <a:spcPct val="120000"/>
              </a:lnSpc>
            </a:pPr>
            <a:r>
              <a:rPr lang="en-IN" b="1" dirty="0"/>
              <a:t>Development Environment</a:t>
            </a:r>
            <a:endParaRPr lang="en-IN" dirty="0"/>
          </a:p>
          <a:p>
            <a:pPr marL="1543050" lvl="3" indent="-285750">
              <a:lnSpc>
                <a:spcPct val="120000"/>
              </a:lnSpc>
            </a:pPr>
            <a:r>
              <a:rPr lang="en-IN" dirty="0"/>
              <a:t>Jupyter Notebook</a:t>
            </a:r>
          </a:p>
          <a:p>
            <a:pPr marL="1543050" lvl="3" indent="-285750">
              <a:lnSpc>
                <a:spcPct val="120000"/>
              </a:lnSpc>
            </a:pPr>
            <a:r>
              <a:rPr lang="en-IN" b="1" dirty="0"/>
              <a:t>Libraries &amp; Tools</a:t>
            </a:r>
            <a:endParaRPr lang="en-IN" dirty="0"/>
          </a:p>
          <a:p>
            <a:pPr marL="1543050" lvl="3" indent="-285750">
              <a:lnSpc>
                <a:spcPct val="120000"/>
              </a:lnSpc>
            </a:pPr>
            <a:r>
              <a:rPr lang="en-IN" dirty="0"/>
              <a:t>Pandas – Data cleaning, manipulation, and analysis</a:t>
            </a:r>
          </a:p>
          <a:p>
            <a:pPr marL="1543050" lvl="3" indent="-285750">
              <a:lnSpc>
                <a:spcPct val="120000"/>
              </a:lnSpc>
            </a:pPr>
            <a:r>
              <a:rPr lang="en-IN" dirty="0"/>
              <a:t>NumPy – Numerical computations</a:t>
            </a:r>
          </a:p>
          <a:p>
            <a:pPr marL="1543050" lvl="3" indent="-285750">
              <a:lnSpc>
                <a:spcPct val="120000"/>
              </a:lnSpc>
            </a:pPr>
            <a:r>
              <a:rPr lang="en-IN" dirty="0"/>
              <a:t>Matplotlib – Data visualization</a:t>
            </a:r>
          </a:p>
          <a:p>
            <a:pPr marL="1543050" lvl="3" indent="-285750">
              <a:lnSpc>
                <a:spcPct val="120000"/>
              </a:lnSpc>
            </a:pPr>
            <a:r>
              <a:rPr lang="en-IN" dirty="0"/>
              <a:t>Seaborn – Statistical analysis and visualization</a:t>
            </a:r>
          </a:p>
          <a:p>
            <a:pPr marL="1543050" lvl="3" indent="-285750">
              <a:lnSpc>
                <a:spcPct val="120000"/>
              </a:lnSpc>
            </a:pPr>
            <a:r>
              <a:rPr lang="en-IN" b="1" dirty="0"/>
              <a:t>Data Source</a:t>
            </a:r>
            <a:endParaRPr lang="en-IN" dirty="0"/>
          </a:p>
          <a:p>
            <a:pPr marL="1543050" lvl="3" indent="-285750">
              <a:lnSpc>
                <a:spcPct val="120000"/>
              </a:lnSpc>
            </a:pPr>
            <a:r>
              <a:rPr lang="en-IN" dirty="0"/>
              <a:t>CSV Dataset</a:t>
            </a:r>
          </a:p>
          <a:p>
            <a:pPr marL="1543050" lvl="3" indent="-285750">
              <a:lnSpc>
                <a:spcPct val="120000"/>
              </a:lnSpc>
            </a:pPr>
            <a:r>
              <a:rPr lang="en-IN" dirty="0"/>
              <a:t>Problem Statement provided as PDF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EA4063-D34F-8A99-3529-A5F429F81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" y="1144204"/>
            <a:ext cx="9527246" cy="513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9C8B7D4-6B88-4B92-166A-B586C8F70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Visualization Certification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4682295-EFD8-D0B2-B4BC-57CC977F1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13" y="1347814"/>
            <a:ext cx="10013140" cy="544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456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25017" y="4361739"/>
            <a:ext cx="7960720" cy="1108635"/>
          </a:xfrm>
        </p:spPr>
        <p:txBody>
          <a:bodyPr>
            <a:normAutofit/>
          </a:bodyPr>
          <a:lstStyle/>
          <a:p>
            <a:r>
              <a:rPr lang="en-IN" sz="2800" dirty="0"/>
              <a:t>Thank you for your time and attention.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630</TotalTime>
  <Words>300</Words>
  <Application>Microsoft Office PowerPoint</Application>
  <PresentationFormat>Widescreen</PresentationFormat>
  <Paragraphs>35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Trebuchet MS</vt:lpstr>
      <vt:lpstr>Wingdings</vt:lpstr>
      <vt:lpstr>Wingdings 3</vt:lpstr>
      <vt:lpstr>Facet</vt:lpstr>
      <vt:lpstr>  Seasonal Agriculture Performance Analysis</vt:lpstr>
      <vt:lpstr>PROBLEM  STATEMENT</vt:lpstr>
      <vt:lpstr>Project Description  Agricultural activities are shaped by seasonal variation — changes in rainfall, temperature, humidity, soil condition and resource availability across the **Kharif**, **Rabi** and **Zaid** cropping seasons. This variation affects yield, production, resource consumption and, ultimately, farm profitability.</vt:lpstr>
      <vt:lpstr>WHO ARE THE END USERS?</vt:lpstr>
      <vt:lpstr>Technology Used</vt:lpstr>
      <vt:lpstr>RESULTS </vt:lpstr>
      <vt:lpstr>Data Visualization Certification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likhitha K</cp:lastModifiedBy>
  <cp:revision>75</cp:revision>
  <dcterms:created xsi:type="dcterms:W3CDTF">2021-07-11T13:13:15Z</dcterms:created>
  <dcterms:modified xsi:type="dcterms:W3CDTF">2026-09-09T18:44:19Z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